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4660"/>
  </p:normalViewPr>
  <p:slideViewPr>
    <p:cSldViewPr snapToGrid="0" snapToObjects="1">
      <p:cViewPr>
        <p:scale>
          <a:sx n="25" d="100"/>
          <a:sy n="25" d="100"/>
        </p:scale>
        <p:origin x="1421" y="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14-Sep-25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66892" y="476573"/>
            <a:ext cx="147007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C5B72"/>
                </a:solidFill>
              </a:defRPr>
            </a:pPr>
            <a:r>
              <a:rPr sz="7200" dirty="0"/>
              <a:t>Intelligent e-tutoring system to help new-coming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02269" y="3091250"/>
            <a:ext cx="152053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4678"/>
                </a:solidFill>
              </a:defRPr>
            </a:pPr>
            <a:r>
              <a:rPr lang="en-US" sz="5400" dirty="0">
                <a:solidFill>
                  <a:srgbClr val="004678"/>
                </a:solidFill>
              </a:rPr>
              <a:t>John Doe</a:t>
            </a:r>
            <a:r>
              <a:rPr lang="en-US" sz="5400" baseline="30000" dirty="0">
                <a:solidFill>
                  <a:srgbClr val="004678"/>
                </a:solidFill>
              </a:rPr>
              <a:t>1</a:t>
            </a:r>
            <a:r>
              <a:rPr sz="5400" b="1" dirty="0"/>
              <a:t>,</a:t>
            </a:r>
            <a:r>
              <a:rPr sz="5400" dirty="0"/>
              <a:t> Jane Smith² &amp; Alex Brown¹</a:t>
            </a:r>
            <a:r>
              <a:rPr lang="en-US" sz="5400" baseline="30000" dirty="0"/>
              <a:t>,</a:t>
            </a:r>
            <a:r>
              <a:rPr sz="5400" dirty="0"/>
              <a:t>²</a:t>
            </a:r>
          </a:p>
        </p:txBody>
      </p:sp>
      <p:sp>
        <p:nvSpPr>
          <p:cNvPr id="13" name="TextBox 2"/>
          <p:cNvSpPr txBox="1"/>
          <p:nvPr/>
        </p:nvSpPr>
        <p:spPr>
          <a:xfrm>
            <a:off x="6904320" y="4014580"/>
            <a:ext cx="168812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04678"/>
                </a:solidFill>
              </a:defRPr>
            </a:pPr>
            <a:r>
              <a:rPr lang="en-US" sz="5400" dirty="0"/>
              <a:t>Department of Computer Science, Example University2. School of Engineering, Example University  *john.doe@example.edu</a:t>
            </a:r>
            <a:endParaRPr sz="5400" dirty="0"/>
          </a:p>
        </p:txBody>
      </p:sp>
      <p:grpSp>
        <p:nvGrpSpPr>
          <p:cNvPr id="18" name="Groupe 17"/>
          <p:cNvGrpSpPr/>
          <p:nvPr/>
        </p:nvGrpSpPr>
        <p:grpSpPr>
          <a:xfrm>
            <a:off x="1268640" y="6799150"/>
            <a:ext cx="28273514" cy="6665537"/>
            <a:chOff x="1113120" y="6756127"/>
            <a:chExt cx="28553034" cy="7124318"/>
          </a:xfrm>
        </p:grpSpPr>
        <p:sp>
          <p:nvSpPr>
            <p:cNvPr id="4" name="TextBox 3"/>
            <p:cNvSpPr txBox="1"/>
            <p:nvPr/>
          </p:nvSpPr>
          <p:spPr>
            <a:xfrm>
              <a:off x="1113120" y="7682282"/>
              <a:ext cx="28521108" cy="6198163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/>
                <a:t> </a:t>
              </a:r>
            </a:p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 template is specifically designed for the Second National Conference on New Educational Technologies and Informatics 2025, organized by the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LabSTIC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Laboratory at the University </a:t>
              </a:r>
              <a:b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of 8 May 1945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Guelma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▷ It serves as a starting point for creating professional conference posters.</a:t>
              </a:r>
            </a:p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▷ This poster showcases the use of the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baposter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LaTeX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template for designing effective and visually appealing conference presentations. The template provides a flexible grid layout, customizable </a:t>
              </a:r>
              <a:b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colors, and easy integration of graphics and tables.</a:t>
              </a:r>
            </a:p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▷ You can quickly modify sections, add images, and include references using standard </a:t>
              </a:r>
              <a:r>
                <a:rPr lang="en-US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LaTeX</a:t>
              </a: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commands [1]. The intelligent e-tutoring system aims to support new-coming students by providing </a:t>
              </a:r>
              <a:b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personalized guidance and resources.</a:t>
              </a:r>
            </a:p>
            <a:p>
              <a:pPr algn="just">
                <a:spcBef>
                  <a:spcPts val="600"/>
                </a:spcBef>
                <a:spcAft>
                  <a:spcPts val="600"/>
                </a:spcAft>
              </a:pP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▷ Survey results indicate improved engagement and satisfaction among users of the system. The modular design allows for easy adaptation to different academic disciplines and institutional </a:t>
              </a:r>
              <a:b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requirements .</a:t>
              </a:r>
            </a:p>
            <a:p>
              <a:pPr algn="just">
                <a:lnSpc>
                  <a:spcPts val="3700"/>
                </a:lnSpc>
                <a:spcBef>
                  <a:spcPts val="600"/>
                </a:spcBef>
                <a:spcAft>
                  <a:spcPts val="600"/>
                </a:spcAft>
              </a:pPr>
              <a:endParaRPr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ogner un rectangle avec un coin du même côté 16"/>
            <p:cNvSpPr/>
            <p:nvPr/>
          </p:nvSpPr>
          <p:spPr>
            <a:xfrm>
              <a:off x="1113120" y="6756127"/>
              <a:ext cx="28553034" cy="865203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>
                  <a:solidFill>
                    <a:schemeClr val="bg1"/>
                  </a:solidFill>
                </a:rPr>
                <a:t>1. Abstract</a:t>
              </a:r>
              <a:endParaRPr lang="fr-FR" sz="6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1268640" y="14709938"/>
            <a:ext cx="9360000" cy="9787813"/>
            <a:chOff x="678139" y="15697757"/>
            <a:chExt cx="11582400" cy="5741307"/>
          </a:xfrm>
        </p:grpSpPr>
        <p:sp>
          <p:nvSpPr>
            <p:cNvPr id="20" name="TextBox 3"/>
            <p:cNvSpPr txBox="1"/>
            <p:nvPr/>
          </p:nvSpPr>
          <p:spPr>
            <a:xfrm>
              <a:off x="678139" y="16384093"/>
              <a:ext cx="11569449" cy="5054971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Ø"/>
              </a:pPr>
              <a:endParaRPr sz="26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The </a:t>
              </a:r>
              <a:r>
                <a:rPr lang="en-US" sz="2800" dirty="0" err="1"/>
                <a:t>baposter</a:t>
              </a:r>
              <a:r>
                <a:rPr lang="en-US" sz="2800" dirty="0"/>
                <a:t> class is designed for large format posters, supporting multiple columns and rows.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Each section is defined using the </a:t>
              </a:r>
              <a:r>
                <a:rPr lang="en-US" sz="2800" dirty="0" err="1"/>
                <a:t>posterbox</a:t>
              </a:r>
              <a:r>
                <a:rPr lang="en-US" sz="2800" dirty="0"/>
                <a:t> environment, which allows you to organize content visually [2].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You can adjust the layout, colors, and fonts to match your conference or institution’s style.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</a:t>
              </a:r>
              <a:r>
                <a:rPr lang="en-US" sz="2800" dirty="0" err="1"/>
                <a:t>Thetemplate</a:t>
              </a:r>
              <a:r>
                <a:rPr lang="en-US" sz="2800" dirty="0"/>
                <a:t> makes it easy to include images, tables, and mathematical equations for a com </a:t>
              </a:r>
              <a:r>
                <a:rPr lang="en-US" sz="2800" dirty="0" err="1"/>
                <a:t>prehensive</a:t>
              </a:r>
              <a:r>
                <a:rPr lang="en-US" sz="2800" dirty="0"/>
                <a:t> presentation.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Customization options enable you to highlight important information and improve readability.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4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</a:t>
              </a:r>
              <a:r>
                <a:rPr lang="en-US" sz="2800" dirty="0" err="1"/>
                <a:t>Themodularstructure</a:t>
              </a:r>
              <a:r>
                <a:rPr lang="en-US" sz="2800" dirty="0"/>
                <a:t> facilitates quick updates and reorganization of sections as your content evolves.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Using the provided color schemes and font settings ensures a professional and cohesive appearance.</a:t>
              </a:r>
              <a:endParaRPr sz="2800" dirty="0"/>
            </a:p>
          </p:txBody>
        </p:sp>
        <p:sp>
          <p:nvSpPr>
            <p:cNvPr id="21" name="Rogner un rectangle avec un coin du même côté 20"/>
            <p:cNvSpPr/>
            <p:nvPr/>
          </p:nvSpPr>
          <p:spPr>
            <a:xfrm>
              <a:off x="678139" y="15697757"/>
              <a:ext cx="11582400" cy="678942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>
                  <a:solidFill>
                    <a:schemeClr val="bg1"/>
                  </a:solidFill>
                </a:rPr>
                <a:t>2. Introduction </a:t>
              </a:r>
              <a:endParaRPr lang="fr-FR" sz="6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Groupe 26"/>
          <p:cNvGrpSpPr/>
          <p:nvPr/>
        </p:nvGrpSpPr>
        <p:grpSpPr>
          <a:xfrm>
            <a:off x="11089485" y="33637730"/>
            <a:ext cx="8929344" cy="5673431"/>
            <a:chOff x="678139" y="15506837"/>
            <a:chExt cx="11582400" cy="4165886"/>
          </a:xfrm>
        </p:grpSpPr>
        <p:sp>
          <p:nvSpPr>
            <p:cNvPr id="28" name="TextBox 3"/>
            <p:cNvSpPr txBox="1"/>
            <p:nvPr/>
          </p:nvSpPr>
          <p:spPr>
            <a:xfrm>
              <a:off x="678139" y="16384093"/>
              <a:ext cx="11569450" cy="3288630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US" sz="2800" dirty="0"/>
                <a:t>▷ Key features of </a:t>
              </a:r>
              <a:r>
                <a:rPr lang="en-US" sz="2800" dirty="0" err="1"/>
                <a:t>baposter</a:t>
              </a:r>
              <a:r>
                <a:rPr lang="en-US" sz="2800" dirty="0"/>
                <a:t>: </a:t>
              </a:r>
            </a:p>
            <a:p>
              <a:pPr algn="just"/>
              <a:endParaRPr lang="en-US" sz="1600" dirty="0"/>
            </a:p>
            <a:p>
              <a:pPr algn="just"/>
              <a:r>
                <a:rPr lang="en-US" sz="2800" dirty="0"/>
                <a:t>▷ Easy placement of images and logos in header and </a:t>
              </a:r>
              <a:br>
                <a:rPr lang="en-US" sz="2800" dirty="0"/>
              </a:br>
              <a:r>
                <a:rPr lang="en-US" sz="2800" dirty="0"/>
                <a:t>       sections. </a:t>
              </a:r>
            </a:p>
            <a:p>
              <a:pPr algn="just"/>
              <a:endParaRPr lang="en-US" sz="1200" dirty="0"/>
            </a:p>
            <a:p>
              <a:pPr algn="just"/>
              <a:r>
                <a:rPr lang="en-US" sz="2800" dirty="0"/>
                <a:t>▷ Flexible grid system for organizing content. </a:t>
              </a:r>
            </a:p>
            <a:p>
              <a:pPr algn="just"/>
              <a:endParaRPr lang="en-US" dirty="0"/>
            </a:p>
            <a:p>
              <a:pPr algn="just"/>
              <a:r>
                <a:rPr lang="en-US" sz="2800" dirty="0"/>
                <a:t>▷ Simple integration of tables, figures, and mathematical </a:t>
              </a:r>
              <a:br>
                <a:rPr lang="en-US" sz="2800" dirty="0"/>
              </a:br>
              <a:r>
                <a:rPr lang="en-US" sz="2800" dirty="0"/>
                <a:t>      formulas. </a:t>
              </a:r>
            </a:p>
            <a:p>
              <a:pPr algn="just"/>
              <a:endParaRPr lang="en-US" sz="1050" dirty="0"/>
            </a:p>
            <a:p>
              <a:pPr algn="just"/>
              <a:r>
                <a:rPr lang="en-US" sz="2800" dirty="0"/>
                <a:t>▷ Bibliography support for references.</a:t>
              </a:r>
            </a:p>
            <a:p>
              <a:pPr algn="just"/>
              <a:endParaRPr sz="2600" dirty="0"/>
            </a:p>
          </p:txBody>
        </p:sp>
        <p:sp>
          <p:nvSpPr>
            <p:cNvPr id="29" name="Rogner un rectangle avec un coin du même côté 28"/>
            <p:cNvSpPr/>
            <p:nvPr/>
          </p:nvSpPr>
          <p:spPr>
            <a:xfrm>
              <a:off x="678139" y="15506837"/>
              <a:ext cx="11582400" cy="859115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/>
                <a:t>5. </a:t>
              </a:r>
              <a:r>
                <a:rPr lang="fr-FR" sz="6000" b="1" dirty="0" err="1"/>
                <a:t>Results</a:t>
              </a:r>
              <a:endParaRPr lang="fr-FR" sz="6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0" name="Groupe 29"/>
          <p:cNvGrpSpPr/>
          <p:nvPr/>
        </p:nvGrpSpPr>
        <p:grpSpPr>
          <a:xfrm>
            <a:off x="1277712" y="25105953"/>
            <a:ext cx="9360000" cy="14222641"/>
            <a:chOff x="678139" y="15697757"/>
            <a:chExt cx="11582400" cy="8557645"/>
          </a:xfrm>
        </p:grpSpPr>
        <p:sp>
          <p:nvSpPr>
            <p:cNvPr id="31" name="TextBox 3"/>
            <p:cNvSpPr txBox="1"/>
            <p:nvPr/>
          </p:nvSpPr>
          <p:spPr>
            <a:xfrm>
              <a:off x="678139" y="16384093"/>
              <a:ext cx="11569449" cy="7871309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marL="285750" indent="-285750" algn="just">
                <a:buFont typeface="Wingdings" panose="05000000000000000000" pitchFamily="2" charset="2"/>
                <a:buChar char="Ø"/>
              </a:pPr>
              <a:endParaRPr sz="26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To use the template, edit the section titles and replace the example text with your own con tent.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You can include bullet points, numbered lists, equations, and tables as needed [3].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The template supports custom colors and backgrounds for visual appeal.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For mathematical content, use environments like equation or align for clear presentation.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Tables can be created using the tabular environment and enhanced with the </a:t>
              </a:r>
              <a:r>
                <a:rPr lang="en-US" sz="2800" dirty="0" err="1"/>
                <a:t>booktabs</a:t>
              </a:r>
              <a:r>
                <a:rPr lang="en-US" sz="2800" dirty="0"/>
                <a:t> package.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Images and results2s can be inserted with \</a:t>
              </a:r>
              <a:r>
                <a:rPr lang="en-US" sz="2800" dirty="0" err="1"/>
                <a:t>includegraphics</a:t>
              </a:r>
              <a:r>
                <a:rPr lang="en-US" sz="2800" dirty="0"/>
                <a:t> for better illustration of concepts.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Adjust spacing and font sizes to ensure read ability on large-format posters.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Refer to the documentation for advanced </a:t>
              </a:r>
              <a:r>
                <a:rPr lang="en-US" sz="2800" dirty="0" err="1"/>
                <a:t>fea</a:t>
              </a:r>
              <a:r>
                <a:rPr lang="en-US" sz="2800" dirty="0"/>
                <a:t> </a:t>
              </a:r>
              <a:r>
                <a:rPr lang="en-US" sz="2800" dirty="0" err="1"/>
                <a:t>tures</a:t>
              </a:r>
              <a:r>
                <a:rPr lang="en-US" sz="2800" dirty="0"/>
                <a:t> such as custom box shapes and header styles.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sz="2800" dirty="0"/>
            </a:p>
          </p:txBody>
        </p:sp>
        <p:sp>
          <p:nvSpPr>
            <p:cNvPr id="32" name="Rogner un rectangle avec un coin du même côté 31"/>
            <p:cNvSpPr/>
            <p:nvPr/>
          </p:nvSpPr>
          <p:spPr>
            <a:xfrm>
              <a:off x="678139" y="15697757"/>
              <a:ext cx="11582400" cy="678942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/>
                <a:t>3. </a:t>
              </a:r>
              <a:r>
                <a:rPr lang="fr-FR" sz="6000" b="1" dirty="0" err="1"/>
                <a:t>Problematic</a:t>
              </a:r>
              <a:endParaRPr lang="fr-FR" sz="6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3" name="Groupe 32"/>
          <p:cNvGrpSpPr/>
          <p:nvPr/>
        </p:nvGrpSpPr>
        <p:grpSpPr>
          <a:xfrm>
            <a:off x="20772868" y="14702882"/>
            <a:ext cx="8538732" cy="4866679"/>
            <a:chOff x="678139" y="15697757"/>
            <a:chExt cx="11582400" cy="3189191"/>
          </a:xfrm>
        </p:grpSpPr>
        <p:sp>
          <p:nvSpPr>
            <p:cNvPr id="34" name="TextBox 3"/>
            <p:cNvSpPr txBox="1"/>
            <p:nvPr/>
          </p:nvSpPr>
          <p:spPr>
            <a:xfrm>
              <a:off x="678139" y="16507012"/>
              <a:ext cx="11569450" cy="2379936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US" sz="2800" dirty="0"/>
                <a:t>▷ Discussion: The template allows you to easily update </a:t>
              </a:r>
              <a:br>
                <a:rPr lang="en-US" sz="2800" dirty="0"/>
              </a:br>
              <a:r>
                <a:rPr lang="en-US" sz="2800" dirty="0"/>
                <a:t>      and rearrange sections as needed. </a:t>
              </a:r>
            </a:p>
            <a:p>
              <a:pPr algn="just"/>
              <a:endParaRPr lang="en-US" sz="1600" dirty="0"/>
            </a:p>
            <a:p>
              <a:pPr algn="just"/>
              <a:r>
                <a:rPr lang="en-US" sz="2800" dirty="0"/>
                <a:t>▷ You can comment out or duplicate sections to </a:t>
              </a:r>
              <a:br>
                <a:rPr lang="en-US" sz="2800" dirty="0"/>
              </a:br>
              <a:r>
                <a:rPr lang="en-US" sz="2800" dirty="0"/>
                <a:t>       experiment with different layouts.</a:t>
              </a:r>
            </a:p>
            <a:p>
              <a:pPr algn="just"/>
              <a:endParaRPr lang="en-US" dirty="0"/>
            </a:p>
            <a:p>
              <a:pPr algn="just"/>
              <a:r>
                <a:rPr lang="en-US" sz="2800" dirty="0"/>
                <a:t> ▷ For advanced customization, refer to the </a:t>
              </a:r>
              <a:r>
                <a:rPr lang="en-US" sz="2800" dirty="0" err="1"/>
                <a:t>baposter</a:t>
              </a:r>
              <a:r>
                <a:rPr lang="en-US" sz="2800" dirty="0"/>
                <a:t> </a:t>
              </a:r>
              <a:br>
                <a:rPr lang="en-US" sz="2800" dirty="0"/>
              </a:br>
              <a:r>
                <a:rPr lang="en-US" sz="2800" dirty="0"/>
                <a:t>       documentation and class file.</a:t>
              </a:r>
            </a:p>
            <a:p>
              <a:pPr algn="just"/>
              <a:endParaRPr sz="2600" dirty="0"/>
            </a:p>
          </p:txBody>
        </p:sp>
        <p:sp>
          <p:nvSpPr>
            <p:cNvPr id="35" name="Rogner un rectangle avec un coin du même côté 34"/>
            <p:cNvSpPr/>
            <p:nvPr/>
          </p:nvSpPr>
          <p:spPr>
            <a:xfrm>
              <a:off x="678139" y="15697757"/>
              <a:ext cx="11582400" cy="779809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/>
                <a:t>6. Discussion</a:t>
              </a:r>
              <a:endParaRPr lang="fr-FR" sz="6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6" name="Groupe 35"/>
          <p:cNvGrpSpPr/>
          <p:nvPr/>
        </p:nvGrpSpPr>
        <p:grpSpPr>
          <a:xfrm>
            <a:off x="11042314" y="14722617"/>
            <a:ext cx="9023686" cy="18371431"/>
            <a:chOff x="678139" y="15697757"/>
            <a:chExt cx="11582400" cy="10976861"/>
          </a:xfrm>
        </p:grpSpPr>
        <p:sp>
          <p:nvSpPr>
            <p:cNvPr id="37" name="TextBox 3"/>
            <p:cNvSpPr txBox="1"/>
            <p:nvPr/>
          </p:nvSpPr>
          <p:spPr>
            <a:xfrm>
              <a:off x="678139" y="16384066"/>
              <a:ext cx="11569449" cy="10290552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You can add graphics to your poster using the </a:t>
              </a:r>
              <a:br>
                <a:rPr lang="en-US" sz="2800" dirty="0"/>
              </a:br>
              <a:r>
                <a:rPr lang="en-US" sz="2800" dirty="0"/>
                <a:t>      \</a:t>
              </a:r>
              <a:r>
                <a:rPr lang="en-US" sz="2800" dirty="0" err="1"/>
                <a:t>includegraphics</a:t>
              </a:r>
              <a:r>
                <a:rPr lang="en-US" sz="2800" dirty="0"/>
                <a:t> command.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The example below shows how to include </a:t>
              </a:r>
              <a:r>
                <a:rPr lang="en-US" sz="2800" dirty="0" err="1"/>
                <a:t>im</a:t>
              </a:r>
              <a:r>
                <a:rPr lang="en-US" sz="2800" dirty="0"/>
                <a:t> ages in a </a:t>
              </a:r>
              <a:br>
                <a:rPr lang="en-US" sz="2800" dirty="0"/>
              </a:br>
              <a:r>
                <a:rPr lang="en-US" sz="2800" dirty="0"/>
                <a:t>      section: </a:t>
              </a:r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just">
                <a:defRPr sz="2000">
                  <a:solidFill>
                    <a:srgbClr val="000000"/>
                  </a:solidFill>
                </a:defRPr>
              </a:pPr>
              <a:r>
                <a:rPr lang="en-US" sz="2800" dirty="0"/>
                <a:t>▷ Figure. 1 demonstrates image placement in the template</a:t>
              </a:r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just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2000" dirty="0"/>
            </a:p>
            <a:p>
              <a:pPr algn="ctr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sz="3200" dirty="0"/>
            </a:p>
            <a:p>
              <a:pPr algn="ctr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endParaRPr lang="en-US" dirty="0"/>
            </a:p>
            <a:p>
              <a:pPr algn="ctr">
                <a:lnSpc>
                  <a:spcPct val="150000"/>
                </a:lnSpc>
                <a:defRPr sz="2000">
                  <a:solidFill>
                    <a:srgbClr val="000000"/>
                  </a:solidFill>
                </a:defRPr>
              </a:pPr>
              <a:r>
                <a:rPr lang="en-US" sz="3200" dirty="0"/>
                <a:t>Fig. 1: Example Graphics in </a:t>
              </a:r>
              <a:r>
                <a:rPr lang="en-US" sz="3200" dirty="0" err="1"/>
                <a:t>baposter</a:t>
              </a:r>
              <a:endParaRPr sz="3200" dirty="0"/>
            </a:p>
          </p:txBody>
        </p:sp>
        <p:sp>
          <p:nvSpPr>
            <p:cNvPr id="38" name="Rogner un rectangle avec un coin du même côté 37"/>
            <p:cNvSpPr/>
            <p:nvPr/>
          </p:nvSpPr>
          <p:spPr>
            <a:xfrm>
              <a:off x="678139" y="15697757"/>
              <a:ext cx="11582400" cy="678942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/>
                <a:t>4. </a:t>
              </a:r>
              <a:r>
                <a:rPr lang="fr-FR" sz="6000" b="1" dirty="0" err="1"/>
                <a:t>Methodology</a:t>
              </a:r>
              <a:endParaRPr lang="fr-FR" sz="6000" b="1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49" name="Groupe 48"/>
          <p:cNvGrpSpPr/>
          <p:nvPr/>
        </p:nvGrpSpPr>
        <p:grpSpPr>
          <a:xfrm>
            <a:off x="20681429" y="26208622"/>
            <a:ext cx="8538732" cy="5180156"/>
            <a:chOff x="20772868" y="21218768"/>
            <a:chExt cx="8769287" cy="5180156"/>
          </a:xfrm>
        </p:grpSpPr>
        <p:sp>
          <p:nvSpPr>
            <p:cNvPr id="43" name="TextBox 3"/>
            <p:cNvSpPr txBox="1"/>
            <p:nvPr/>
          </p:nvSpPr>
          <p:spPr>
            <a:xfrm>
              <a:off x="20772868" y="22536328"/>
              <a:ext cx="8759482" cy="3862596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just"/>
              <a:r>
                <a:rPr lang="en-US" sz="2800" dirty="0"/>
                <a:t>[1] L. </a:t>
              </a:r>
              <a:r>
                <a:rPr lang="en-US" sz="2800" dirty="0" err="1"/>
                <a:t>Lamport</a:t>
              </a:r>
              <a:r>
                <a:rPr lang="en-US" sz="2800" dirty="0"/>
                <a:t>. Latex: A document preparation system. </a:t>
              </a:r>
              <a:br>
                <a:rPr lang="en-US" sz="2800" dirty="0"/>
              </a:br>
              <a:r>
                <a:rPr lang="en-US" sz="2800" dirty="0"/>
                <a:t>       1994. </a:t>
              </a:r>
            </a:p>
            <a:p>
              <a:pPr algn="just"/>
              <a:endParaRPr lang="en-US" sz="1100" dirty="0"/>
            </a:p>
            <a:p>
              <a:pPr algn="just"/>
              <a:r>
                <a:rPr lang="en-US" sz="2800" dirty="0"/>
                <a:t>[2] F. </a:t>
              </a:r>
              <a:r>
                <a:rPr lang="en-US" sz="2800" dirty="0" err="1"/>
                <a:t>Mittelbach</a:t>
              </a:r>
              <a:r>
                <a:rPr lang="en-US" sz="2800" dirty="0"/>
                <a:t> and M. </a:t>
              </a:r>
              <a:r>
                <a:rPr lang="en-US" sz="2800" dirty="0" err="1"/>
                <a:t>Goossens</a:t>
              </a:r>
              <a:r>
                <a:rPr lang="en-US" sz="2800" dirty="0"/>
                <a:t>. The latex companion. </a:t>
              </a:r>
              <a:br>
                <a:rPr lang="en-US" sz="2800" dirty="0"/>
              </a:br>
              <a:r>
                <a:rPr lang="en-US" sz="2800" dirty="0"/>
                <a:t>        2004.</a:t>
              </a:r>
            </a:p>
            <a:p>
              <a:pPr algn="just"/>
              <a:endParaRPr lang="en-US" sz="1200" dirty="0"/>
            </a:p>
            <a:p>
              <a:pPr algn="just"/>
              <a:r>
                <a:rPr lang="en-US" sz="2800" dirty="0"/>
                <a:t> [3] T. </a:t>
              </a:r>
              <a:r>
                <a:rPr lang="en-US" sz="2800" dirty="0" err="1"/>
                <a:t>Oetiker</a:t>
              </a:r>
              <a:r>
                <a:rPr lang="en-US" sz="2800" dirty="0"/>
                <a:t> et al. The not so short introduction to </a:t>
              </a:r>
              <a:br>
                <a:rPr lang="en-US" sz="2800" dirty="0"/>
              </a:br>
              <a:r>
                <a:rPr lang="en-US" sz="2800" dirty="0"/>
                <a:t>         latex2e. 2022.</a:t>
              </a:r>
            </a:p>
            <a:p>
              <a:pPr algn="just"/>
              <a:endParaRPr lang="en-US" sz="2800" dirty="0"/>
            </a:p>
            <a:p>
              <a:pPr algn="just"/>
              <a:endParaRPr sz="2600" dirty="0"/>
            </a:p>
          </p:txBody>
        </p:sp>
        <p:sp>
          <p:nvSpPr>
            <p:cNvPr id="44" name="Rogner un rectangle avec un coin du même côté 43"/>
            <p:cNvSpPr/>
            <p:nvPr/>
          </p:nvSpPr>
          <p:spPr>
            <a:xfrm>
              <a:off x="20772868" y="21218768"/>
              <a:ext cx="8769287" cy="1266094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/>
                <a:t>8. </a:t>
              </a:r>
              <a:r>
                <a:rPr lang="fr-FR" sz="6000" b="1" dirty="0" err="1"/>
                <a:t>References</a:t>
              </a:r>
              <a:endParaRPr lang="fr-FR" sz="6000" b="1" dirty="0">
                <a:solidFill>
                  <a:schemeClr val="tx2"/>
                </a:solidFill>
              </a:endParaRPr>
            </a:p>
          </p:txBody>
        </p:sp>
      </p:grpSp>
      <p:pic>
        <p:nvPicPr>
          <p:cNvPr id="45" name="Image 44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71709" y="476574"/>
            <a:ext cx="4975568" cy="5896106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3848" y="659500"/>
            <a:ext cx="5900534" cy="5896106"/>
          </a:xfrm>
          <a:prstGeom prst="rect">
            <a:avLst/>
          </a:prstGeom>
        </p:spPr>
      </p:pic>
      <p:grpSp>
        <p:nvGrpSpPr>
          <p:cNvPr id="48" name="Groupe 47"/>
          <p:cNvGrpSpPr/>
          <p:nvPr/>
        </p:nvGrpSpPr>
        <p:grpSpPr>
          <a:xfrm>
            <a:off x="20687777" y="20199981"/>
            <a:ext cx="8532384" cy="5244525"/>
            <a:chOff x="20687777" y="16211484"/>
            <a:chExt cx="8854378" cy="5244525"/>
          </a:xfrm>
        </p:grpSpPr>
        <p:sp>
          <p:nvSpPr>
            <p:cNvPr id="40" name="TextBox 3"/>
            <p:cNvSpPr txBox="1"/>
            <p:nvPr/>
          </p:nvSpPr>
          <p:spPr>
            <a:xfrm>
              <a:off x="20687777" y="17454914"/>
              <a:ext cx="8844477" cy="4001095"/>
            </a:xfrm>
            <a:prstGeom prst="rect">
              <a:avLst/>
            </a:prstGeom>
            <a:noFill/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sz="2800" dirty="0"/>
                <a:t>▷ In conclusion, the </a:t>
              </a:r>
              <a:r>
                <a:rPr lang="en-US" sz="2800" dirty="0" err="1"/>
                <a:t>baposter</a:t>
              </a:r>
              <a:r>
                <a:rPr lang="en-US" sz="2800" dirty="0"/>
                <a:t> template is a powerful  </a:t>
              </a:r>
              <a:br>
                <a:rPr lang="en-US" sz="2800" dirty="0"/>
              </a:br>
              <a:r>
                <a:rPr lang="en-US" sz="2800" dirty="0"/>
                <a:t>     tool for creating professional conference posters. </a:t>
              </a:r>
            </a:p>
            <a:p>
              <a:pPr algn="just"/>
              <a:endParaRPr lang="en-US" sz="1600" dirty="0"/>
            </a:p>
            <a:p>
              <a:pPr algn="just"/>
              <a:r>
                <a:rPr lang="en-US" sz="2800" dirty="0"/>
                <a:t>▷ Edit the content, add your graphics, and up date the </a:t>
              </a:r>
              <a:br>
                <a:rPr lang="en-US" sz="2800" dirty="0"/>
              </a:br>
              <a:r>
                <a:rPr lang="en-US" sz="2800" dirty="0"/>
                <a:t>     bibliography to fit your needs. </a:t>
              </a:r>
            </a:p>
            <a:p>
              <a:pPr algn="just"/>
              <a:endParaRPr lang="en-US" sz="1400" dirty="0"/>
            </a:p>
            <a:p>
              <a:pPr algn="just"/>
              <a:r>
                <a:rPr lang="en-US" sz="2800" dirty="0"/>
                <a:t>▷ For more examples and options, see the </a:t>
              </a:r>
              <a:r>
                <a:rPr lang="en-US" sz="2800" dirty="0" err="1"/>
                <a:t>offIcial</a:t>
              </a:r>
              <a:r>
                <a:rPr lang="en-US" sz="2800" dirty="0"/>
                <a:t> </a:t>
              </a:r>
              <a:br>
                <a:rPr lang="en-US" sz="2800" dirty="0"/>
              </a:br>
              <a:r>
                <a:rPr lang="en-US" sz="2800" dirty="0"/>
                <a:t>      documentation or explore the class file.</a:t>
              </a:r>
            </a:p>
            <a:p>
              <a:pPr algn="just"/>
              <a:endParaRPr lang="en-US" sz="2800" dirty="0"/>
            </a:p>
            <a:p>
              <a:pPr algn="just"/>
              <a:endParaRPr lang="en-US" sz="2800" dirty="0"/>
            </a:p>
          </p:txBody>
        </p:sp>
        <p:sp>
          <p:nvSpPr>
            <p:cNvPr id="47" name="Rogner un rectangle avec un coin du même côté 46"/>
            <p:cNvSpPr/>
            <p:nvPr/>
          </p:nvSpPr>
          <p:spPr>
            <a:xfrm>
              <a:off x="20687777" y="16211484"/>
              <a:ext cx="8854378" cy="1189982"/>
            </a:xfrm>
            <a:prstGeom prst="snip2Same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6000" b="1" dirty="0"/>
                <a:t>7. Conclusion</a:t>
              </a:r>
              <a:endParaRPr lang="fr-FR" sz="6000" b="1" dirty="0">
                <a:solidFill>
                  <a:schemeClr val="tx2"/>
                </a:solidFill>
              </a:endParaRPr>
            </a:p>
          </p:txBody>
        </p:sp>
      </p:grpSp>
      <p:pic>
        <p:nvPicPr>
          <p:cNvPr id="52" name="Image 5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041" y="19030383"/>
            <a:ext cx="8587359" cy="6420703"/>
          </a:xfrm>
          <a:prstGeom prst="rect">
            <a:avLst/>
          </a:prstGeom>
        </p:spPr>
      </p:pic>
      <p:pic>
        <p:nvPicPr>
          <p:cNvPr id="53" name="Image 5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041" y="25726114"/>
            <a:ext cx="8587359" cy="62872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738</Words>
  <Application>Microsoft Office PowerPoint</Application>
  <PresentationFormat>Custom</PresentationFormat>
  <Paragraphs>110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Times New Roman</vt:lpstr>
      <vt:lpstr>Wingdings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WAFA</dc:creator>
  <cp:keywords/>
  <dc:description>generated using python-pptx</dc:description>
  <cp:lastModifiedBy>Rochdi Boudjehem</cp:lastModifiedBy>
  <cp:revision>28</cp:revision>
  <dcterms:created xsi:type="dcterms:W3CDTF">2013-01-27T09:14:16Z</dcterms:created>
  <dcterms:modified xsi:type="dcterms:W3CDTF">2025-09-14T13:56:56Z</dcterms:modified>
  <cp:category/>
</cp:coreProperties>
</file>